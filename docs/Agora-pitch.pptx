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E6E9F2"/>
                </a:solidFill>
                <a:latin typeface="Arial"/>
              </a:rPr>
              <a:t>🏛  Agora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8A90A6"/>
                </a:solidFill>
                <a:latin typeface="Arial"/>
              </a:rPr>
              <a:t>The self-driving classroom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400" b="1">
                <a:solidFill>
                  <a:srgbClr val="E6E9F2"/>
                </a:solidFill>
                <a:latin typeface="Arial"/>
              </a:rPr>
              <a:t>Autonomous AI agents that </a:t>
            </a:r>
            <a:r>
              <a:rPr sz="4400" b="1">
                <a:solidFill>
                  <a:srgbClr val="3ECF8E"/>
                </a:solidFill>
                <a:latin typeface="Arial"/>
              </a:rPr>
              <a:t>teach a goal end-to-end.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9875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000" b="0">
                <a:solidFill>
                  <a:srgbClr val="B8BECE"/>
                </a:solidFill>
                <a:latin typeface="Arial"/>
              </a:rPr>
              <a:t>A multi-agent tutoring system for the Agentic AI in Education hackathon. Give it a learning goal; six agents plan, teach, diagnose, and adapt — with little to no human intervention.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8A90A6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800" b="1">
                <a:solidFill>
                  <a:srgbClr val="E6E9F2"/>
                </a:solidFill>
                <a:latin typeface="Arial"/>
              </a:rPr>
              <a:t>The best teaching method doesn't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9875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000" b="0">
                <a:solidFill>
                  <a:srgbClr val="B8BECE"/>
                </a:solidFill>
                <a:latin typeface="Arial"/>
              </a:rPr>
              <a:t>One-to-one tutoring produces a two-standard-deviation improvement (Bloom, 1984): the most effective intervention we have in education — and the least scalable. There will never be enough expert tutors.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7C83FF"/>
                </a:solidFill>
                <a:latin typeface="Arial"/>
              </a:rPr>
              <a:t>+2σ  </a:t>
            </a:r>
            <a:r>
              <a:rPr sz="2200" b="1">
                <a:solidFill>
                  <a:srgbClr val="8A90A6"/>
                </a:solidFill>
                <a:latin typeface="Arial"/>
              </a:rPr>
              <a:t>one-to-one tutoring    vs    one teacher, thirty students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8A90A6"/>
                </a:solidFill>
                <a:latin typeface="Arial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800" b="1">
                <a:solidFill>
                  <a:srgbClr val="E6E9F2"/>
                </a:solidFill>
                <a:latin typeface="Arial"/>
              </a:rPr>
              <a:t>Tutoring is a </a:t>
            </a:r>
            <a:r>
              <a:rPr sz="3800" b="1">
                <a:solidFill>
                  <a:srgbClr val="22D3EE"/>
                </a:solidFill>
                <a:latin typeface="Arial"/>
              </a:rPr>
              <a:t>loop</a:t>
            </a:r>
            <a:r>
              <a:rPr sz="3800" b="1">
                <a:solidFill>
                  <a:srgbClr val="E6E9F2"/>
                </a:solidFill>
                <a:latin typeface="Arial"/>
              </a:rPr>
              <a:t>, not a Q&amp;A.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9875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000" b="0">
                <a:solidFill>
                  <a:srgbClr val="B8BECE"/>
                </a:solidFill>
                <a:latin typeface="Arial"/>
              </a:rPr>
              <a:t>Most “AI tutors” just answer questions. A real tutor plans what to teach, notices confusion, diagnoses the underlying gap, and changes the plan to fix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E6E9F2"/>
                </a:solidFill>
                <a:latin typeface="Arial"/>
              </a:rPr>
              <a:t>plan  →  teach  →  assess  →  </a:t>
            </a:r>
            <a:r>
              <a:rPr sz="2200" b="1">
                <a:solidFill>
                  <a:srgbClr val="FF5D73"/>
                </a:solidFill>
                <a:latin typeface="Arial"/>
              </a:rPr>
              <a:t>diagnose</a:t>
            </a:r>
            <a:r>
              <a:rPr sz="2200" b="1">
                <a:solidFill>
                  <a:srgbClr val="E6E9F2"/>
                </a:solidFill>
                <a:latin typeface="Arial"/>
              </a:rPr>
              <a:t>  →  adapt  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8A90A6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600" b="1">
                <a:solidFill>
                  <a:srgbClr val="E6E9F2"/>
                </a:solidFill>
                <a:latin typeface="Arial"/>
              </a:rPr>
              <a:t>Six autonomous agents run the whole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9875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000" b="0">
                <a:solidFill>
                  <a:srgbClr val="B8BECE"/>
                </a:solidFill>
                <a:latin typeface="Arial"/>
              </a:rPr>
              <a:t>One input — a learning goal. Everything else is decided by the system. In autopilot, a simulated learner even answers the quizzes, so a full session runs with zero human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8A90A6"/>
                </a:solidFill>
                <a:latin typeface="Arial"/>
              </a:rPr>
              <a:t>THE 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600" b="1">
                <a:solidFill>
                  <a:srgbClr val="E6E9F2"/>
                </a:solidFill>
                <a:latin typeface="Arial"/>
              </a:rPr>
              <a:t>Each agent, one job.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C084FC"/>
                </a:solidFill>
                <a:latin typeface="Arial"/>
              </a:rPr>
              <a:t>◎ Orchestrator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8A90A6"/>
                </a:solidFill>
                <a:latin typeface="Arial"/>
              </a:rPr>
              <a:t>Decides the next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28600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7C83FF"/>
                </a:solidFill>
                <a:latin typeface="Arial"/>
              </a:rPr>
              <a:t>✦ Planner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8A90A6"/>
                </a:solidFill>
                <a:latin typeface="Arial"/>
              </a:rPr>
              <a:t>Designs the learning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28600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3ECF8E"/>
                </a:solidFill>
                <a:latin typeface="Arial"/>
              </a:rPr>
              <a:t>❂ Tutor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8A90A6"/>
                </a:solidFill>
                <a:latin typeface="Arial"/>
              </a:rPr>
              <a:t>Teaches each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B020"/>
                </a:solidFill>
                <a:latin typeface="Arial"/>
              </a:rPr>
              <a:t>◈ Assessor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8A90A6"/>
                </a:solidFill>
                <a:latin typeface="Arial"/>
              </a:rPr>
              <a:t>Checks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84048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5D73"/>
                </a:solidFill>
                <a:latin typeface="Arial"/>
              </a:rPr>
              <a:t>⚕ Diagnostician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8A90A6"/>
                </a:solidFill>
                <a:latin typeface="Arial"/>
              </a:rPr>
              <a:t>Finds gaps, triggers remediation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84048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22D3EE"/>
                </a:solidFill>
                <a:latin typeface="Arial"/>
              </a:rPr>
              <a:t>◍ Learner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8A90A6"/>
                </a:solidFill>
                <a:latin typeface="Arial"/>
              </a:rPr>
              <a:t>Answers and progresses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8A90A6"/>
                </a:solidFill>
                <a:latin typeface="Arial"/>
              </a:rPr>
              <a:t>THE HEADLINE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800" b="1">
                <a:solidFill>
                  <a:srgbClr val="E6E9F2"/>
                </a:solidFill>
                <a:latin typeface="Arial"/>
              </a:rPr>
              <a:t>It </a:t>
            </a:r>
            <a:r>
              <a:rPr sz="3800" b="1">
                <a:solidFill>
                  <a:srgbClr val="7C83FF"/>
                </a:solidFill>
                <a:latin typeface="Arial"/>
              </a:rPr>
              <a:t>rewrites its own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9875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000" b="0">
                <a:solidFill>
                  <a:srgbClr val="B8BECE"/>
                </a:solidFill>
                <a:latin typeface="Arial"/>
              </a:rPr>
              <a:t>When a wrong answer traces to a missing prerequisite, the Orchestrator injects a remedial micro-lesson it never originally planned, teaches it, then returns to the blocked concept. Nobody scripted it — it's a decision from the learner's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E6E9F2"/>
                </a:solidFill>
                <a:latin typeface="Arial"/>
              </a:rPr>
              <a:t>missed check  →  </a:t>
            </a:r>
            <a:r>
              <a:rPr sz="1800" b="1">
                <a:solidFill>
                  <a:srgbClr val="FF5D73"/>
                </a:solidFill>
                <a:latin typeface="Arial"/>
              </a:rPr>
              <a:t>misconception found</a:t>
            </a:r>
            <a:r>
              <a:rPr sz="1800" b="1">
                <a:solidFill>
                  <a:srgbClr val="E6E9F2"/>
                </a:solidFill>
                <a:latin typeface="Arial"/>
              </a:rPr>
              <a:t>  →  </a:t>
            </a:r>
            <a:r>
              <a:rPr sz="1800" b="1">
                <a:solidFill>
                  <a:srgbClr val="7C83FF"/>
                </a:solidFill>
                <a:latin typeface="Arial"/>
              </a:rPr>
              <a:t>plan rewritten</a:t>
            </a:r>
            <a:r>
              <a:rPr sz="1800" b="1">
                <a:solidFill>
                  <a:srgbClr val="E6E9F2"/>
                </a:solidFill>
                <a:latin typeface="Arial"/>
              </a:rPr>
              <a:t>  →  gap closed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8A90A6"/>
                </a:solidFill>
                <a:latin typeface="Arial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000" b="1">
                <a:solidFill>
                  <a:srgbClr val="E6E9F2"/>
                </a:solidFill>
                <a:latin typeface="Arial"/>
              </a:rPr>
              <a:t>Watch it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9875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000" b="0">
                <a:solidFill>
                  <a:srgbClr val="B8BECE"/>
                </a:solidFill>
                <a:latin typeface="Arial"/>
              </a:rPr>
              <a:t>Autopilot run of “Understand recursion”: the plan builds, agents light up as they act, the activity stream shows every autonomous decision, and a remediation lesson is auto-added live. Then an interactive run with a human answering.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8A90A6"/>
                </a:solidFill>
                <a:latin typeface="Arial"/>
              </a:rPr>
              <a:t>→ switch to the 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8A90A6"/>
                </a:solidFill>
                <a:latin typeface="Arial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600" b="1">
                <a:solidFill>
                  <a:srgbClr val="E6E9F2"/>
                </a:solidFill>
                <a:latin typeface="Arial"/>
              </a:rPr>
              <a:t>Production-shaped, demo-safe.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3ECF8E"/>
                </a:solidFill>
                <a:latin typeface="Arial"/>
              </a:rPr>
              <a:t>Stack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B8BECE"/>
                </a:solidFill>
                <a:latin typeface="Arial"/>
              </a:rPr>
              <a:t>• Node + Express (tsx) · React control room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B8BECE"/>
                </a:solidFill>
                <a:latin typeface="Arial"/>
              </a:rPr>
              <a:t>• Redis: state, replayable events, pub/sub, analytics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B8BECE"/>
                </a:solidFill>
                <a:latin typeface="Arial"/>
              </a:rPr>
              <a:t>• Real-time via SSE + Redis pub/sub — scales out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B8BECE"/>
                </a:solidFill>
                <a:latin typeface="Arial"/>
              </a:rPr>
              <a:t>• One-command deploy to Scalingo (+ Redis addon)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37744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B020"/>
                </a:solidFill>
                <a:latin typeface="Arial"/>
              </a:rPr>
              <a:t>Why it never breaks on stage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B8BECE"/>
                </a:solidFill>
                <a:latin typeface="Arial"/>
              </a:rPr>
              <a:t>• Provider-agnostic LLM (Anthropic / OpenAI)…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B8BECE"/>
                </a:solidFill>
                <a:latin typeface="Arial"/>
              </a:rPr>
              <a:t>• …that degrades to a deterministic engine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B8BECE"/>
                </a:solidFill>
                <a:latin typeface="Arial"/>
              </a:rPr>
              <a:t>• No API key, no network needed for the demo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B8BECE"/>
                </a:solidFill>
                <a:latin typeface="Arial"/>
              </a:rPr>
              <a:t>• Typed · unit + integration + smoke + browser tested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8A90A6"/>
                </a:solidFill>
                <a:latin typeface="Arial"/>
              </a:rPr>
              <a:t>WHY IT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600" b="1">
                <a:solidFill>
                  <a:srgbClr val="E6E9F2"/>
                </a:solidFill>
                <a:latin typeface="Arial"/>
              </a:rPr>
              <a:t>Built against the rubric.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3474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Arial"/>
              </a:rPr>
              <a:t>Autonomy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8A90A6"/>
                </a:solidFill>
                <a:latin typeface="Arial"/>
              </a:rPr>
              <a:t>Closed multi-step loop to a goal, no human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468880"/>
            <a:ext cx="3474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7C83FF"/>
                </a:solidFill>
                <a:latin typeface="Arial"/>
              </a:rPr>
              <a:t>Innovation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8A90A6"/>
                </a:solidFill>
                <a:latin typeface="Arial"/>
              </a:rPr>
              <a:t>Multi-agent orchestration + self-rewriting plans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468880"/>
            <a:ext cx="3474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3ECF8E"/>
                </a:solidFill>
                <a:latin typeface="Arial"/>
              </a:rPr>
              <a:t>Impact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8A90A6"/>
                </a:solidFill>
                <a:latin typeface="Arial"/>
              </a:rPr>
              <a:t>Scalable 1:1 tutoring for every learner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3474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C084FC"/>
                </a:solidFill>
                <a:latin typeface="Arial"/>
              </a:rPr>
              <a:t>Theme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8A90A6"/>
                </a:solidFill>
                <a:latin typeface="Arial"/>
              </a:rPr>
              <a:t>Agentic by design, with emergent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206240"/>
            <a:ext cx="3474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B020"/>
                </a:solidFill>
                <a:latin typeface="Arial"/>
              </a:rPr>
              <a:t>Quality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8A90A6"/>
                </a:solidFill>
                <a:latin typeface="Arial"/>
              </a:rPr>
              <a:t>Typed, tested, verified, polished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E6E9F2"/>
                </a:solidFill>
                <a:latin typeface="Arial"/>
              </a:rPr>
              <a:t>🏛  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800" b="1">
                <a:solidFill>
                  <a:srgbClr val="E6E9F2"/>
                </a:solidFill>
                <a:latin typeface="Arial"/>
              </a:rPr>
              <a:t>Autonomous, adaptive tutoring </a:t>
            </a:r>
            <a:r>
              <a:rPr sz="3800" b="1">
                <a:solidFill>
                  <a:srgbClr val="3ECF8E"/>
                </a:solidFill>
                <a:latin typeface="Arial"/>
              </a:rPr>
              <a:t>for every learner.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9875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000" b="0">
                <a:solidFill>
                  <a:srgbClr val="B8BECE"/>
                </a:solidFill>
                <a:latin typeface="Arial"/>
              </a:rPr>
              <a:t>And fittingly — this project about agentic AI was built by an agentic workflow: agents writing code, reviewing each other, and verifying the result before shipping.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8A90A6"/>
                </a:solidFill>
                <a:latin typeface="Arial"/>
              </a:rPr>
              <a:t>github.com/iliaskalalou/agora-agentic-tutor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